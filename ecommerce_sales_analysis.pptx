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031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C2A8">
              <a:alpha val="25000"/>
            </a:srgbClr>
          </a:solidFill>
          <a:ln w="12700">
            <a:solidFill>
              <a:srgbClr val="00C2A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FFB703">
              <a:alpha val="30000"/>
            </a:srgbClr>
          </a:solidFill>
          <a:ln w="12700">
            <a:solidFill>
              <a:srgbClr val="FFB703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1027" y="17407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kern="0" spc="4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411480" y="13441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kern="0" spc="2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ANALYSIS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1994746" y="239301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kern="0" spc="4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6000" dirty="0"/>
          </a:p>
        </p:txBody>
      </p:sp>
      <p:sp>
        <p:nvSpPr>
          <p:cNvPr id="27" name="Shape 25"/>
          <p:cNvSpPr/>
          <p:nvPr/>
        </p:nvSpPr>
        <p:spPr>
          <a:xfrm>
            <a:off x="411480" y="3657600"/>
            <a:ext cx="109728" cy="10972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93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TRANSACTION TELLS A STORY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" y="201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3657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FB703">
              <a:alpha val="25000"/>
            </a:srgbClr>
          </a:solidFill>
          <a:ln w="12700">
            <a:solidFill>
              <a:srgbClr val="FFB70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32004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2004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004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2004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50292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50292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0292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0292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0292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68580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68580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68580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68580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68580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86868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86868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86868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86868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868680"/>
            <a:ext cx="45720" cy="45720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5760"/>
            <a:ext cx="4114800" cy="2166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 smtClean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5800" dirty="0"/>
          </a:p>
        </p:txBody>
      </p:sp>
      <p:sp>
        <p:nvSpPr>
          <p:cNvPr id="29" name="Text 27"/>
          <p:cNvSpPr/>
          <p:nvPr/>
        </p:nvSpPr>
        <p:spPr>
          <a:xfrm>
            <a:off x="4572000" y="28346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e-commerce sales using Python &amp; SQL: Discover total revenue, top-performing categories, customer segment behaviour, monthly trends, and profit margins — enabling smarter, data-driven business decisions.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594360"/>
            <a:ext cx="3840480" cy="82296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94360"/>
            <a:ext cx="64008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886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9,994 Orders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1600200"/>
            <a:ext cx="3840480" cy="82296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1600200"/>
            <a:ext cx="64008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1645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(Python)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18928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Plotly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5760" y="2606040"/>
            <a:ext cx="3840480" cy="82296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2606040"/>
            <a:ext cx="64008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(SQL)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2898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5760" y="3611880"/>
            <a:ext cx="3840480" cy="82296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611880"/>
            <a:ext cx="64008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657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39044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 Sales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1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 &amp; DATA CLEANING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120640" cy="2011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pd.read_csv</a:t>
            </a:r>
            <a:r>
              <a:rPr lang="en-US" sz="11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("Sample - Superstore.csv",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encoding</a:t>
            </a:r>
            <a:r>
              <a:rPr lang="en-US" sz="11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="latin1")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['Order Date']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to_datetime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data['Order Date'])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(data.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143000"/>
            <a:ext cx="3017520" cy="2011680"/>
          </a:xfrm>
          <a:prstGeom prst="rect">
            <a:avLst/>
          </a:prstGeom>
          <a:solidFill>
            <a:srgbClr val="0E2235"/>
          </a:solidFill>
          <a:ln w="12700">
            <a:solidFill>
              <a:srgbClr val="8BA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Grid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508760"/>
            <a:ext cx="2926080" cy="274320"/>
          </a:xfrm>
          <a:prstGeom prst="rect">
            <a:avLst/>
          </a:prstGeom>
          <a:solidFill>
            <a:srgbClr val="132840"/>
          </a:solidFill>
          <a:ln w="12700">
            <a:solidFill>
              <a:srgbClr val="132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536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0" y="1536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1810512"/>
            <a:ext cx="2926080" cy="2743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8379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8379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datetime64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2112264"/>
            <a:ext cx="2926080" cy="274320"/>
          </a:xfrm>
          <a:prstGeom prst="rect">
            <a:avLst/>
          </a:prstGeom>
          <a:solidFill>
            <a:srgbClr val="132840"/>
          </a:solidFill>
          <a:ln w="12700">
            <a:solidFill>
              <a:srgbClr val="132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139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2139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datetime64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2414016"/>
            <a:ext cx="2926080" cy="2743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441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441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2715768"/>
            <a:ext cx="2926080" cy="274320"/>
          </a:xfrm>
          <a:prstGeom prst="rect">
            <a:avLst/>
          </a:prstGeom>
          <a:solidFill>
            <a:srgbClr val="132840"/>
          </a:solidFill>
          <a:ln w="12700">
            <a:solidFill>
              <a:srgbClr val="132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(Clean)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383280"/>
            <a:ext cx="2377440" cy="502920"/>
          </a:xfrm>
          <a:prstGeom prst="rect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20440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total records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3383280"/>
            <a:ext cx="2377440" cy="502920"/>
          </a:xfrm>
          <a:prstGeom prst="rect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3520440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columns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2377440" cy="502920"/>
          </a:xfrm>
          <a:prstGeom prst="rect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0520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values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4160520"/>
            <a:ext cx="201168" cy="2011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of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REVENUE &amp; PROFIT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1920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ROUND((SUM(profit) / SUM(sales))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100, 2)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profit_margin_percentage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50292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total_sales</a:t>
            </a:r>
            <a:r>
              <a:rPr lang="en-US" sz="12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data</a:t>
            </a: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['Sales'].</a:t>
            </a:r>
            <a:r>
              <a:rPr lang="en-US" sz="12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total_profit</a:t>
            </a:r>
            <a:r>
              <a:rPr lang="en-US" sz="12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data</a:t>
            </a: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['Profit'].</a:t>
            </a:r>
            <a:r>
              <a:rPr lang="en-US" sz="12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3108960" cy="77724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1097280"/>
            <a:ext cx="6400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143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13533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$2,297,201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16733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2011680"/>
            <a:ext cx="3108960" cy="777240"/>
          </a:xfrm>
          <a:prstGeom prst="rect">
            <a:avLst/>
          </a:prstGeom>
          <a:solidFill>
            <a:srgbClr val="0A254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011680"/>
            <a:ext cx="64008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057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2267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$286,397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0" y="25877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2926080"/>
            <a:ext cx="3108960" cy="777240"/>
          </a:xfrm>
          <a:prstGeom prst="rect">
            <a:avLst/>
          </a:prstGeom>
          <a:solidFill>
            <a:srgbClr val="0A254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2926080"/>
            <a:ext cx="64008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9718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3182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12.47%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52160" y="35021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Margin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1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ANALYSIS BY CATEGORY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sales_by_category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data.groupby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'Category')['Sales'].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sum().reset_index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px.pie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(sales_by_category,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='Sales',  </a:t>
            </a: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='Category')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5029200" cy="1645920"/>
          </a:xfrm>
          <a:prstGeom prst="rect">
            <a:avLst/>
          </a:prstGeom>
          <a:solidFill>
            <a:srgbClr val="0E2235"/>
          </a:solidFill>
          <a:ln w="12700">
            <a:solidFill>
              <a:srgbClr val="8BA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</a:rPr>
              <a:t>Result Grid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200400"/>
            <a:ext cx="4846320" cy="274320"/>
          </a:xfrm>
          <a:prstGeom prst="rect">
            <a:avLst/>
          </a:prstGeom>
          <a:solidFill>
            <a:srgbClr val="132840"/>
          </a:solidFill>
          <a:ln w="12700">
            <a:solidFill>
              <a:srgbClr val="132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27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3227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($)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502152"/>
            <a:ext cx="4846320" cy="2743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95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35295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836,154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803904"/>
            <a:ext cx="4846320" cy="274320"/>
          </a:xfrm>
          <a:prstGeom prst="rect">
            <a:avLst/>
          </a:prstGeom>
          <a:solidFill>
            <a:srgbClr val="132840"/>
          </a:solidFill>
          <a:ln w="12700">
            <a:solidFill>
              <a:srgbClr val="132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313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8313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741,999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105656"/>
            <a:ext cx="4846320" cy="2743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330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4133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719,047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Breakdown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600200"/>
            <a:ext cx="310896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1600200"/>
            <a:ext cx="6400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6550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1947672"/>
            <a:ext cx="2560320" cy="10972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1947672"/>
            <a:ext cx="931956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1122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   $836K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651760"/>
            <a:ext cx="310896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2651760"/>
            <a:ext cx="64008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7066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2160" y="2999232"/>
            <a:ext cx="2560320" cy="10972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999232"/>
            <a:ext cx="826983" cy="1097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163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32.3%   $742K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3703320"/>
            <a:ext cx="310896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3703320"/>
            <a:ext cx="64008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7581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Supplies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52160" y="4050792"/>
            <a:ext cx="2560320" cy="10972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4050792"/>
            <a:ext cx="801380" cy="1097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42153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31.3%   $719K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1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SALES ANALYSIS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sales_by_month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data.groupby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'Order Month')['Sales'].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sum().reset_index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px.line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(sales_by_month,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x='Order Month',  y='Sales',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title='Monthly Sales Analysis')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5029200" cy="1645920"/>
          </a:xfrm>
          <a:prstGeom prst="rect">
            <a:avLst/>
          </a:prstGeom>
          <a:solidFill>
            <a:srgbClr val="0E2235"/>
          </a:solidFill>
          <a:ln w="12700">
            <a:solidFill>
              <a:srgbClr val="8BA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</a:rPr>
              <a:t>Result Grid  (selected months)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200400"/>
            <a:ext cx="4846320" cy="274320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27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22783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($)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502152"/>
            <a:ext cx="4846320" cy="2743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95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(9)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52958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307,649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803904"/>
            <a:ext cx="4846320" cy="274320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313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(11)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831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352,461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105656"/>
            <a:ext cx="4846320" cy="274320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33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(12)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41330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325,294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3615421"/>
            <a:ext cx="201168" cy="590819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34456" y="3834566"/>
            <a:ext cx="201168" cy="37167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2926858"/>
            <a:ext cx="201168" cy="127938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4808" y="3351451"/>
            <a:ext cx="201168" cy="854789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9984" y="3045769"/>
            <a:ext cx="201168" cy="1160471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3031450"/>
            <a:ext cx="201168" cy="117479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0336" y="3112384"/>
            <a:ext cx="201168" cy="109385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5512" y="3212618"/>
            <a:ext cx="201168" cy="99362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2291214"/>
            <a:ext cx="201168" cy="191502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55864" y="3002812"/>
            <a:ext cx="201168" cy="12034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2011680"/>
            <a:ext cx="201168" cy="2194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86216" y="2736974"/>
            <a:ext cx="201168" cy="146926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Jan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897880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Feb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163056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Mar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428232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Apr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693408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May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958584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Jun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23760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Jul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488936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Aug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754112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Sep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19288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Oct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284464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Nov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49640" y="4251960"/>
            <a:ext cx="265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AB5"/>
                </a:solidFill>
              </a:rPr>
              <a:t>Dec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b="1" kern="0" spc="1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 ANALYSIS BY SUB-CATEGORY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75973" y="975374"/>
            <a:ext cx="5029200" cy="1872316"/>
          </a:xfrm>
          <a:prstGeom prst="rect">
            <a:avLst/>
          </a:prstGeom>
          <a:solidFill>
            <a:srgbClr val="0A25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1733" y="956897"/>
            <a:ext cx="4663440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Profit_by_sub</a:t>
            </a: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data.groupby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9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'Sub-Category')['Profit'].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sum().reset_index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px.bar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(Profit_by_sub,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x='Sub-Category',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y='Profit',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title='Profit By Sub Category')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5029200" cy="1417320"/>
          </a:xfrm>
          <a:prstGeom prst="rect">
            <a:avLst/>
          </a:prstGeom>
          <a:solidFill>
            <a:srgbClr val="0E2235"/>
          </a:solidFill>
          <a:ln w="12700">
            <a:solidFill>
              <a:srgbClr val="8BA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</a:rPr>
              <a:t>Result Grid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401568"/>
            <a:ext cx="4846320" cy="237744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3429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($)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648456"/>
            <a:ext cx="4846320" cy="237744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758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3675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55,618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895344"/>
            <a:ext cx="4846320" cy="237744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227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39227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44,516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142232"/>
            <a:ext cx="4846320" cy="237744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96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41696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41,937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389120"/>
            <a:ext cx="4846320" cy="237744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16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4416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34,054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5029200" cy="411480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537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Tables (-17,725), Bookcases (-3,473), Supplies (-1,189) = LOSSES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Profitable Sub-Categories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1764792"/>
            <a:ext cx="2834640" cy="20116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1764792"/>
            <a:ext cx="2834640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1600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1728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$55.6K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2404872"/>
            <a:ext cx="2834640" cy="20116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2404872"/>
            <a:ext cx="2268813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240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23682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$44.5K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044952"/>
            <a:ext cx="2834640" cy="20116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3044952"/>
            <a:ext cx="2137371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2880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30083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$41.9K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685032"/>
            <a:ext cx="2834640" cy="20116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3685032"/>
            <a:ext cx="1735604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35204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36484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$34.1K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0" y="4325112"/>
            <a:ext cx="2834640" cy="20116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4325112"/>
            <a:ext cx="1540251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4160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0" y="4288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$30.2K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VS PROFIT BY CUSTOMER SEGMENT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1920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seg_data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data.groupby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('Segment').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agg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({'Sales':'sum',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'Profit':'sum'}).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reset_index()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seg_data['ratio']</a:t>
            </a:r>
            <a:r>
              <a:rPr lang="en-US" sz="11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seg_data['Sales']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seg_data['Profit']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5029200" cy="1280160"/>
          </a:xfrm>
          <a:prstGeom prst="rect">
            <a:avLst/>
          </a:prstGeom>
          <a:solidFill>
            <a:srgbClr val="0E2235"/>
          </a:solidFill>
          <a:ln w="12700">
            <a:solidFill>
              <a:srgbClr val="8BA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</a:rPr>
              <a:t>Result Grid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474720"/>
            <a:ext cx="4846320" cy="256032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021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35021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($)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35021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749040"/>
            <a:ext cx="4846320" cy="256032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76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3776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1,161,401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37764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023360"/>
            <a:ext cx="4846320" cy="256032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507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40507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706,146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40507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297680"/>
            <a:ext cx="4846320" cy="256032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251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43251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429,653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43251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Breakdown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1554480"/>
            <a:ext cx="310896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1554480"/>
            <a:ext cx="64008" cy="9601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618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52160" y="19019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$1.16M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21214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$134K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1874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50.6%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669280" y="2697480"/>
            <a:ext cx="310896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2697480"/>
            <a:ext cx="64008" cy="960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2761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852160" y="30449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$706K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2644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$92K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30.7%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5669280" y="3840480"/>
            <a:ext cx="3108960" cy="960120"/>
          </a:xfrm>
          <a:prstGeom prst="rect">
            <a:avLst/>
          </a:prstGeom>
          <a:solidFill>
            <a:srgbClr val="0A254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3840480"/>
            <a:ext cx="64008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904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Office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852160" y="41879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$430K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52160" y="44074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$60K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4160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18.7%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100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YEAR-OVER-YEAR SALES GROWTH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5029200" cy="2450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1528" y="1097280"/>
            <a:ext cx="3374728" cy="2359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</a:t>
            </a:r>
            <a:r>
              <a:rPr lang="en-US" sz="1050" dirty="0" err="1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total_sales</a:t>
            </a:r>
            <a:r>
              <a:rPr lang="en-US" sz="10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>
              <a:buNone/>
            </a:pPr>
            <a:endParaRPr lang="en-US" sz="1050" dirty="0" smtClean="0"/>
          </a:p>
          <a:p>
            <a:pPr marL="0" indent="0">
              <a:buNone/>
            </a:pPr>
            <a:r>
              <a:rPr lang="en-US" sz="1050" dirty="0" smtClean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</a:t>
            </a:r>
            <a:r>
              <a:rPr lang="en-US" sz="10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total_sales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0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(ORDER BY year</a:t>
            </a:r>
            <a:r>
              <a:rPr lang="en-US" sz="1050" dirty="0" smtClean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</a:t>
            </a:r>
            <a:r>
              <a:rPr lang="en-US" sz="10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prev_year_sales</a:t>
            </a:r>
            <a:r>
              <a:rPr lang="en-US" sz="10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0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total_sales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LAG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(total_sales) </a:t>
            </a:r>
            <a:r>
              <a:rPr lang="en-US" sz="10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(ORDER BY year)) </a:t>
            </a:r>
            <a:r>
              <a:rPr lang="en-US" sz="1050" dirty="0" smtClean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LAG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(total_sales) OVER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(ORDER BY year)) * 100, 2</a:t>
            </a:r>
            <a:r>
              <a:rPr lang="en-US" sz="1050" dirty="0" smtClean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growth_percentage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 t;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 Results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554480"/>
            <a:ext cx="3108960" cy="731520"/>
          </a:xfrm>
          <a:prstGeom prst="rect">
            <a:avLst/>
          </a:prstGeom>
          <a:solidFill>
            <a:srgbClr val="0A2540"/>
          </a:solidFill>
          <a:ln w="19050">
            <a:solidFill>
              <a:srgbClr val="8BAA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554480"/>
            <a:ext cx="64008" cy="731520"/>
          </a:xfrm>
          <a:prstGeom prst="rect">
            <a:avLst/>
          </a:prstGeom>
          <a:solidFill>
            <a:srgbClr val="8BAAB5"/>
          </a:solidFill>
          <a:ln w="12700">
            <a:solidFill>
              <a:srgbClr val="8BAA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6276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9568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$484K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AA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2404872"/>
            <a:ext cx="3108960" cy="731520"/>
          </a:xfrm>
          <a:prstGeom prst="rect">
            <a:avLst/>
          </a:prstGeom>
          <a:solidFill>
            <a:srgbClr val="0A254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404872"/>
            <a:ext cx="64008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47802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8072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$470K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25420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-2.83%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0" y="3255264"/>
            <a:ext cx="3108960" cy="73152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3255264"/>
            <a:ext cx="64008" cy="7315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3284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36576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$609K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0" y="33924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+29.46%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69280" y="4105656"/>
            <a:ext cx="3108960" cy="731520"/>
          </a:xfrm>
          <a:prstGeom prst="rect">
            <a:avLst/>
          </a:prstGeom>
          <a:solidFill>
            <a:srgbClr val="0A254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4105656"/>
            <a:ext cx="64008" cy="7315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41788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0" y="45079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$733K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4242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+20.36%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5029200" cy="1234440"/>
          </a:xfrm>
          <a:prstGeom prst="rect">
            <a:avLst/>
          </a:prstGeom>
          <a:solidFill>
            <a:srgbClr val="0E2235"/>
          </a:solidFill>
          <a:ln w="12700">
            <a:solidFill>
              <a:srgbClr val="8BA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03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AB5"/>
                </a:solidFill>
              </a:rPr>
              <a:t>Result Grid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995928"/>
            <a:ext cx="4846320" cy="219456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1421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28800" y="40142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0" y="40142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224528"/>
            <a:ext cx="4846320" cy="219456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4281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28800" y="42428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$484,247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0" y="42428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453128"/>
            <a:ext cx="4846320" cy="219456"/>
          </a:xfrm>
          <a:prstGeom prst="rect">
            <a:avLst/>
          </a:prstGeom>
          <a:solidFill>
            <a:srgbClr val="132840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47141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28800" y="44714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$609,206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0" y="44714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+29.46%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4681728"/>
            <a:ext cx="4846320" cy="219456"/>
          </a:xfrm>
          <a:prstGeom prst="rect">
            <a:avLst/>
          </a:prstGeom>
          <a:solidFill>
            <a:srgbClr val="0E2235"/>
          </a:solidFill>
          <a:ln w="12700">
            <a:solidFill>
              <a:srgbClr val="0E22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70001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828800" y="470001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$733,215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0" y="47000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+20.36%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C2A8">
              <a:alpha val="20000"/>
            </a:srgbClr>
          </a:solidFill>
          <a:ln w="12700">
            <a:solidFill>
              <a:srgbClr val="00C2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FB703">
              <a:alpha val="25000"/>
            </a:srgbClr>
          </a:solidFill>
          <a:ln w="12700">
            <a:solidFill>
              <a:srgbClr val="FFB70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2286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2286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2286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2286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4114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114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4114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4114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4114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5943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5943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5943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5943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5943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7772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7772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7772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7772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7772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2004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2004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2004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2004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320040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3832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3832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3832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33832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338328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5661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5661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5661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35661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356616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37490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37490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37490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37490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0120" y="3749040"/>
            <a:ext cx="54864" cy="54864"/>
          </a:xfrm>
          <a:prstGeom prst="ellipse">
            <a:avLst/>
          </a:prstGeom>
          <a:solidFill>
            <a:srgbClr val="8BAAB5">
              <a:alpha val="60000"/>
            </a:srgbClr>
          </a:solidFill>
          <a:ln w="12700">
            <a:solidFill>
              <a:srgbClr val="8BAAB5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7772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0000" dirty="0"/>
          </a:p>
        </p:txBody>
      </p:sp>
      <p:sp>
        <p:nvSpPr>
          <p:cNvPr id="45" name="Text 43"/>
          <p:cNvSpPr/>
          <p:nvPr/>
        </p:nvSpPr>
        <p:spPr>
          <a:xfrm>
            <a:off x="2011680" y="3749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ATTENTION</a:t>
            </a:r>
            <a:endParaRPr lang="en-US" sz="3800" dirty="0"/>
          </a:p>
        </p:txBody>
      </p:sp>
      <p:sp>
        <p:nvSpPr>
          <p:cNvPr id="46" name="Shape 44"/>
          <p:cNvSpPr/>
          <p:nvPr/>
        </p:nvSpPr>
        <p:spPr>
          <a:xfrm>
            <a:off x="5074920" y="2971800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E-COMMERCE SALES PRESENTATION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8600" y="164592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3232" y="201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3232" y="3657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457</Words>
  <Application>Microsoft Office PowerPoint</Application>
  <PresentationFormat>On-screen Show (16:9)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>PptxGenJS Presentation</dc:subject>
  <dc:creator>PptxGenJS</dc:creator>
  <cp:lastModifiedBy>AVINASH KUMAR PAL</cp:lastModifiedBy>
  <cp:revision>5</cp:revision>
  <dcterms:created xsi:type="dcterms:W3CDTF">2026-04-05T17:38:41Z</dcterms:created>
  <dcterms:modified xsi:type="dcterms:W3CDTF">2026-04-05T18:19:32Z</dcterms:modified>
</cp:coreProperties>
</file>