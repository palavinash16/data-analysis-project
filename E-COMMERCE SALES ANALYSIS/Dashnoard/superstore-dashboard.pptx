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</c:v>
                </c:pt>
                <c:pt idx="1">
                  <c:v>471</c:v>
                </c:pt>
                <c:pt idx="2">
                  <c:v>609</c:v>
                </c:pt>
                <c:pt idx="3">
                  <c:v>733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62</c:v>
                </c:pt>
                <c:pt idx="2">
                  <c:v>82</c:v>
                </c:pt>
                <c:pt idx="3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1161401</c:v>
                </c:pt>
                <c:pt idx="1">
                  <c:v>706146</c:v>
                </c:pt>
                <c:pt idx="2">
                  <c:v>429653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Ship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bubble3D val="0"/>
            <c:spPr>
              <a:solidFill>
                <a:srgbClr val="06B6D4"/>
              </a:solidFill>
              <a:effectLst/>
            </c:spPr>
          </c:dPt>
          <c:dPt>
            <c:idx val="3"/>
            <c:bubble3D val="0"/>
            <c:spPr>
              <a:solidFill>
                <a:srgbClr val="84CC1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Standard Class</c:v>
                </c:pt>
                <c:pt idx="1">
                  <c:v>Second Class</c:v>
                </c:pt>
                <c:pt idx="2">
                  <c:v>First Class</c:v>
                </c:pt>
                <c:pt idx="3">
                  <c:v>Same Day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5968</c:v>
                </c:pt>
                <c:pt idx="1">
                  <c:v>1945</c:v>
                </c:pt>
                <c:pt idx="2">
                  <c:v>1538</c:v>
                </c:pt>
                <c:pt idx="3">
                  <c:v>543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Phones</c:v>
                  </c:pt>
                  <c:pt idx="1">
                    <c:v>Chairs</c:v>
                  </c:pt>
                  <c:pt idx="2">
                    <c:v>Storage</c:v>
                  </c:pt>
                  <c:pt idx="3">
                    <c:v>Tables</c:v>
                  </c:pt>
                  <c:pt idx="4">
                    <c:v>Binders</c:v>
                  </c:pt>
                  <c:pt idx="5">
                    <c:v>Machines</c:v>
                  </c:pt>
                  <c:pt idx="6">
                    <c:v>Accessories</c:v>
                  </c:pt>
                  <c:pt idx="7">
                    <c:v>Copiers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330</c:v>
                </c:pt>
                <c:pt idx="1">
                  <c:v>328</c:v>
                </c:pt>
                <c:pt idx="2">
                  <c:v>224</c:v>
                </c:pt>
                <c:pt idx="3">
                  <c:v>207</c:v>
                </c:pt>
                <c:pt idx="4">
                  <c:v>203</c:v>
                </c:pt>
                <c:pt idx="5">
                  <c:v>189</c:v>
                </c:pt>
                <c:pt idx="6">
                  <c:v>167</c:v>
                </c:pt>
                <c:pt idx="7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Office Supplies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</c:v>
                </c:pt>
                <c:pt idx="1">
                  <c:v>122</c:v>
                </c:pt>
                <c:pt idx="2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725</c:v>
                </c:pt>
                <c:pt idx="1">
                  <c:v>679</c:v>
                </c:pt>
                <c:pt idx="2">
                  <c:v>501</c:v>
                </c:pt>
                <c:pt idx="3">
                  <c:v>392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108</c:v>
                </c:pt>
                <c:pt idx="1">
                  <c:v>92</c:v>
                </c:pt>
                <c:pt idx="2">
                  <c:v>40</c:v>
                </c:pt>
                <c:pt idx="3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Technology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178</c:v>
                </c:pt>
                <c:pt idx="1">
                  <c:v>172</c:v>
                </c:pt>
                <c:pt idx="2">
                  <c:v>229</c:v>
                </c:pt>
                <c:pt idx="3">
                  <c:v>258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Furniture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164</c:v>
                </c:pt>
                <c:pt idx="1">
                  <c:v>167</c:v>
                </c:pt>
                <c:pt idx="2">
                  <c:v>205</c:v>
                </c:pt>
                <c:pt idx="3">
                  <c:v>206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Office Supplies</c:v>
                </c:pt>
              </c:strCache>
            </c:strRef>
          </c:tx>
          <c:spPr>
            <a:solidFill>
              <a:srgbClr val="14B8A6"/>
            </a:solidFill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142</c:v>
                </c:pt>
                <c:pt idx="1">
                  <c:v>131</c:v>
                </c:pt>
                <c:pt idx="2">
                  <c:v>175</c:v>
                </c:pt>
                <c:pt idx="3">
                  <c:v>270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⬡  Superstore Sales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</a:rPr>
              <a:t>Overview   |   Category &amp; Region   |   Trends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</a:rPr>
              <a:t>2014 – 2017  ·  US Market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Superstore Analytics  ·  Sample Dataset  ·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61288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 / 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5120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Executive Overview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4320" y="8412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Sample Superstore  ·  All Regions  ·  2014–2017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" y="1115568"/>
            <a:ext cx="223113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" y="1115568"/>
            <a:ext cx="54864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1197864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75569"/>
                </a:solidFill>
              </a:rPr>
              <a:t>TOTAL SALES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56616" y="136245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$2.30M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6616" y="1828800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▲ FY2017 best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51176" y="1115568"/>
            <a:ext cx="223113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51176" y="1115568"/>
            <a:ext cx="54864" cy="9875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0904" y="1197864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75569"/>
                </a:solidFill>
              </a:rPr>
              <a:t>TOTAL PROFIT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660904" y="136245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$286K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660904" y="1828800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Margin: 12.5%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55464" y="1115568"/>
            <a:ext cx="223113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55464" y="1115568"/>
            <a:ext cx="54864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1197864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75569"/>
                </a:solidFill>
              </a:rPr>
              <a:t>TOTAL ORDERS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965192" y="136245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5,009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965192" y="1828800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Unique orders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59752" y="1115568"/>
            <a:ext cx="223113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9752" y="1115568"/>
            <a:ext cx="54864" cy="9875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1197864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75569"/>
                </a:solidFill>
              </a:rPr>
              <a:t>UNITS SOLD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269480" y="136245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37,873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269480" y="1828800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Avg 7.6/order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464040" y="1115568"/>
            <a:ext cx="223113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464040" y="1115568"/>
            <a:ext cx="54864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73768" y="1197864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75569"/>
                </a:solidFill>
              </a:rPr>
              <a:t>PROFIT MARGIN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573768" y="136245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12.5%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573768" y="1828800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▲ vs 10.2% avg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6888" y="2240280"/>
            <a:ext cx="5760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11480" y="2350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Annual Sales &amp; Profit (2014–2017)</a:t>
            </a:r>
            <a:endParaRPr lang="en-US" sz="11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292608" y="2578608"/>
          <a:ext cx="5669280" cy="23042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Shape 36"/>
          <p:cNvSpPr/>
          <p:nvPr/>
        </p:nvSpPr>
        <p:spPr>
          <a:xfrm>
            <a:off x="6199632" y="224028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6364224" y="2350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Sales by Segment</a:t>
            </a:r>
            <a:endParaRPr lang="en-US" sz="1100" dirty="0"/>
          </a:p>
        </p:txBody>
      </p:sp>
      <p:graphicFrame>
        <p:nvGraphicFramePr>
          <p:cNvPr id="41" name="Chart 1" descr=""/>
          <p:cNvGraphicFramePr/>
          <p:nvPr/>
        </p:nvGraphicFramePr>
        <p:xfrm>
          <a:off x="6245352" y="2578608"/>
          <a:ext cx="2651760" cy="23042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2" name="Shape 38"/>
          <p:cNvSpPr/>
          <p:nvPr/>
        </p:nvSpPr>
        <p:spPr>
          <a:xfrm>
            <a:off x="9125712" y="2240280"/>
            <a:ext cx="2788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9290304" y="23500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Orders by Ship Mode</a:t>
            </a:r>
            <a:endParaRPr lang="en-US" sz="1100" dirty="0"/>
          </a:p>
        </p:txBody>
      </p:sp>
      <p:graphicFrame>
        <p:nvGraphicFramePr>
          <p:cNvPr id="44" name="Chart 2" descr=""/>
          <p:cNvGraphicFramePr/>
          <p:nvPr/>
        </p:nvGraphicFramePr>
        <p:xfrm>
          <a:off x="9171432" y="2578608"/>
          <a:ext cx="2697480" cy="23042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5" name="Shape 40"/>
          <p:cNvSpPr/>
          <p:nvPr/>
        </p:nvSpPr>
        <p:spPr>
          <a:xfrm>
            <a:off x="246888" y="5102352"/>
            <a:ext cx="1828800" cy="246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5102352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Region: All</a:t>
            </a:r>
            <a:endParaRPr lang="en-US" sz="800" dirty="0"/>
          </a:p>
        </p:txBody>
      </p:sp>
      <p:sp>
        <p:nvSpPr>
          <p:cNvPr id="47" name="Shape 42"/>
          <p:cNvSpPr/>
          <p:nvPr/>
        </p:nvSpPr>
        <p:spPr>
          <a:xfrm>
            <a:off x="2212848" y="5102352"/>
            <a:ext cx="1828800" cy="246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2258568" y="5102352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Segment: All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4178808" y="5102352"/>
            <a:ext cx="1828800" cy="246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4224528" y="5102352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Year: 2014–2017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⬡  Superstore Sales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</a:rPr>
              <a:t>Overview   |   Category &amp; Region   |   Trends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</a:rPr>
              <a:t>2014 – 2017  ·  US Market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Superstore Analytics  ·  Sample Dataset  ·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61288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 / 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5120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Category &amp; Region Analysis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4320" y="8412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Sales and Profit breakdown by Category, Sub-Category and Region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" y="1115568"/>
            <a:ext cx="287121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" y="1115568"/>
            <a:ext cx="54864" cy="8961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1197864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75569"/>
                </a:solidFill>
              </a:rPr>
              <a:t>TECHNOLOGY SALES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56616" y="1362456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$836K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6616" y="1828800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▲ see chart below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82112" y="1115568"/>
            <a:ext cx="287121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82112" y="1115568"/>
            <a:ext cx="54864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197864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75569"/>
                </a:solidFill>
              </a:rPr>
              <a:t>FURNITURE SALES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91840" y="1362456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$742K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291840" y="1828800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▲ see chart below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17336" y="1115568"/>
            <a:ext cx="287121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1115568"/>
            <a:ext cx="54864" cy="8961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1197864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75569"/>
                </a:solidFill>
              </a:rPr>
              <a:t>OFFICE SUPPLIES SALES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27064" y="1362456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$719K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27064" y="1828800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▲ see chart below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052560" y="1115568"/>
            <a:ext cx="287121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52560" y="1115568"/>
            <a:ext cx="54864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2288" y="1197864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75569"/>
                </a:solidFill>
              </a:rPr>
              <a:t>BEST REGION (WEST)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162288" y="1362456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$725K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162288" y="1828800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▲ see chart below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6888" y="2148840"/>
            <a:ext cx="576072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11480" y="22585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Sales by Sub-Category</a:t>
            </a:r>
            <a:endParaRPr lang="en-US" sz="11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292608" y="2487168"/>
          <a:ext cx="5669280" cy="36850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Shape 31"/>
          <p:cNvSpPr/>
          <p:nvPr/>
        </p:nvSpPr>
        <p:spPr>
          <a:xfrm>
            <a:off x="6199632" y="2148840"/>
            <a:ext cx="57150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364224" y="22585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Profit by Category</a:t>
            </a:r>
            <a:endParaRPr lang="en-US" sz="1100" dirty="0"/>
          </a:p>
        </p:txBody>
      </p:sp>
      <p:graphicFrame>
        <p:nvGraphicFramePr>
          <p:cNvPr id="36" name="Chart 1" descr=""/>
          <p:cNvGraphicFramePr/>
          <p:nvPr/>
        </p:nvGraphicFramePr>
        <p:xfrm>
          <a:off x="6245352" y="2487168"/>
          <a:ext cx="56235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7" name="Shape 33"/>
          <p:cNvSpPr/>
          <p:nvPr/>
        </p:nvSpPr>
        <p:spPr>
          <a:xfrm>
            <a:off x="6199632" y="4279392"/>
            <a:ext cx="57150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6364224" y="438912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Sales &amp; Profit by Region</a:t>
            </a:r>
            <a:endParaRPr lang="en-US" sz="1100" dirty="0"/>
          </a:p>
        </p:txBody>
      </p:sp>
      <p:graphicFrame>
        <p:nvGraphicFramePr>
          <p:cNvPr id="39" name="Chart 2" descr=""/>
          <p:cNvGraphicFramePr/>
          <p:nvPr/>
        </p:nvGraphicFramePr>
        <p:xfrm>
          <a:off x="6245352" y="4617720"/>
          <a:ext cx="56235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⬡  Superstore Sales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</a:rPr>
              <a:t>Overview   |   Category &amp; Region   |   Trends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</a:rPr>
              <a:t>2014 – 2017  ·  US Market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Superstore Analytics  ·  Sample Dataset  ·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61288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3 / 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5120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Trends &amp; Top Sub-Categories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4320" y="8412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Year-over-year revenue trend and sub-category performance table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" y="1115568"/>
            <a:ext cx="749808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2252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Annual Sales Trend by Category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292608" y="1444752"/>
          <a:ext cx="7406640" cy="2212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7909560" y="1115568"/>
            <a:ext cx="40050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909560" y="1115568"/>
            <a:ext cx="54864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19288" y="11978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75569"/>
                </a:solidFill>
              </a:rPr>
              <a:t>2017 SALES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019288" y="13624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$733K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019288" y="1828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vs prior year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909560" y="2029968"/>
            <a:ext cx="40050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909560" y="2029968"/>
            <a:ext cx="54864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19288" y="21122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75569"/>
                </a:solidFill>
              </a:rPr>
              <a:t>2017 PROFIT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8019288" y="22768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$93K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8019288" y="27432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vs prior year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909560" y="2944368"/>
            <a:ext cx="40050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09560" y="2944368"/>
            <a:ext cx="54864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19288" y="30266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75569"/>
                </a:solidFill>
              </a:rPr>
              <a:t>YOY GROWTH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8019288" y="31912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+20.4%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8019288" y="36576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vs prior year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46888" y="3877056"/>
            <a:ext cx="1168603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CBD5E1">
                <a:alpha val="2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11480" y="39684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Sub-Category Performance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4261104"/>
          <a:ext cx="1159459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1645920"/>
                <a:gridCol w="1645920"/>
                <a:gridCol w="146304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Sub-Category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 ($K)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Profit ($K)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Phones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330.0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44.5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13.5%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▲ +13.5%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Chairs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Furniture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328.4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8.1%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▲  +8.1%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Storage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Office Supplies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223.8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21.3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9.5%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▲  +9.5%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Tables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Furniture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207.0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-17.7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-8.5%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▼  -8.5%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Binders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Office Supplies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203.4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30.2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14.9%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▲ +14.9%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Machines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189.2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3.4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1.8%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  +1.8%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Copiers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149.5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37.2%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▲ +37.2%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Accessories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167.4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25.1%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▲ +25.1%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Analytics</dc:title>
  <dc:subject>PptxGenJS Presentation</dc:subject>
  <dc:creator>PptxGenJS</dc:creator>
  <cp:lastModifiedBy>PptxGenJS</cp:lastModifiedBy>
  <cp:revision>1</cp:revision>
  <dcterms:created xsi:type="dcterms:W3CDTF">2026-04-22T19:59:50Z</dcterms:created>
  <dcterms:modified xsi:type="dcterms:W3CDTF">2026-04-22T19:59:50Z</dcterms:modified>
</cp:coreProperties>
</file>