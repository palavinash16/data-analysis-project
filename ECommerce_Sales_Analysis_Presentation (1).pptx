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7" r:id="rId12"/>
    <p:sldId id="265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5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88825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6675" y="2404534"/>
            <a:ext cx="7764913" cy="1646302"/>
          </a:xfrm>
        </p:spPr>
        <p:txBody>
          <a:bodyPr anchor="b">
            <a:noAutofit/>
          </a:bodyPr>
          <a:lstStyle>
            <a:lvl1pPr algn="r">
              <a:defRPr sz="5398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6675" y="4050834"/>
            <a:ext cx="7764913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37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59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300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2700868"/>
            <a:ext cx="8594429" cy="1826581"/>
          </a:xfrm>
        </p:spPr>
        <p:txBody>
          <a:bodyPr anchor="b"/>
          <a:lstStyle>
            <a:lvl1pPr algn="l">
              <a:defRPr sz="3999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860400"/>
          </a:xfrm>
        </p:spPr>
        <p:txBody>
          <a:bodyPr anchor="t"/>
          <a:lstStyle>
            <a:lvl1pPr marL="0" indent="0" algn="l">
              <a:buNone/>
              <a:defRPr sz="19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862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158" y="2160589"/>
            <a:ext cx="418294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8645" y="2160590"/>
            <a:ext cx="418294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63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570" y="2160983"/>
            <a:ext cx="4184533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570" y="2737246"/>
            <a:ext cx="418453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7058" y="2160983"/>
            <a:ext cx="4184528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7059" y="2737246"/>
            <a:ext cx="418452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311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609600"/>
            <a:ext cx="8594429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048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218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1498604"/>
            <a:ext cx="3853524" cy="1278466"/>
          </a:xfrm>
        </p:spPr>
        <p:txBody>
          <a:bodyPr anchor="b">
            <a:normAutofit/>
          </a:bodyPr>
          <a:lstStyle>
            <a:lvl1pPr>
              <a:defRPr sz="199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9222" y="514925"/>
            <a:ext cx="4512366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158" y="2777069"/>
            <a:ext cx="3853524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6926" indent="0">
              <a:buNone/>
              <a:defRPr sz="1400"/>
            </a:lvl2pPr>
            <a:lvl3pPr marL="913852" indent="0">
              <a:buNone/>
              <a:defRPr sz="1200"/>
            </a:lvl3pPr>
            <a:lvl4pPr marL="1370778" indent="0">
              <a:buNone/>
              <a:defRPr sz="1000"/>
            </a:lvl4pPr>
            <a:lvl5pPr marL="1827703" indent="0">
              <a:buNone/>
              <a:defRPr sz="1000"/>
            </a:lvl5pPr>
            <a:lvl6pPr marL="2284628" indent="0">
              <a:buNone/>
              <a:defRPr sz="1000"/>
            </a:lvl6pPr>
            <a:lvl7pPr marL="2741554" indent="0">
              <a:buNone/>
              <a:defRPr sz="1000"/>
            </a:lvl7pPr>
            <a:lvl8pPr marL="3198480" indent="0">
              <a:buNone/>
              <a:defRPr sz="1000"/>
            </a:lvl8pPr>
            <a:lvl9pPr marL="3655406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973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8" y="4800600"/>
            <a:ext cx="8594428" cy="566738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158" y="609600"/>
            <a:ext cx="8594429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158" y="5367338"/>
            <a:ext cx="8594428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157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609600"/>
            <a:ext cx="8594429" cy="3403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470400"/>
            <a:ext cx="8594429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026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092" y="609600"/>
            <a:ext cx="809202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5783" y="3632200"/>
            <a:ext cx="7222643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470400"/>
            <a:ext cx="8594429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729" y="790378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0695" y="2886556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426533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159" y="1931988"/>
            <a:ext cx="8594429" cy="2595460"/>
          </a:xfrm>
        </p:spPr>
        <p:txBody>
          <a:bodyPr anchor="b">
            <a:normAutofit/>
          </a:bodyPr>
          <a:lstStyle>
            <a:lvl1pPr algn="l">
              <a:defRPr sz="4399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2719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092" y="609600"/>
            <a:ext cx="809202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156" y="4013200"/>
            <a:ext cx="8594430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99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729" y="790378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0695" y="2886556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521511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621" y="609600"/>
            <a:ext cx="8585966" cy="3022600"/>
          </a:xfrm>
        </p:spPr>
        <p:txBody>
          <a:bodyPr anchor="ctr">
            <a:normAutofit/>
          </a:bodyPr>
          <a:lstStyle>
            <a:lvl1pPr algn="l">
              <a:defRPr sz="4399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156" y="4013200"/>
            <a:ext cx="8594430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99">
                <a:solidFill>
                  <a:schemeClr val="accent1"/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9" y="4527448"/>
            <a:ext cx="8594429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6120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2195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5599" y="609600"/>
            <a:ext cx="130440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159" y="609600"/>
            <a:ext cx="7058311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705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88825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158" y="609600"/>
            <a:ext cx="8594429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158" y="2160590"/>
            <a:ext cx="8594429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3257" y="6041363"/>
            <a:ext cx="9117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158" y="6041363"/>
            <a:ext cx="62959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88426" y="6041363"/>
            <a:ext cx="68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9810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  <p:sldLayoutId id="2147483797" r:id="rId12"/>
    <p:sldLayoutId id="2147483798" r:id="rId13"/>
    <p:sldLayoutId id="2147483799" r:id="rId14"/>
    <p:sldLayoutId id="2147483800" r:id="rId15"/>
    <p:sldLayoutId id="2147483801" r:id="rId16"/>
  </p:sldLayoutIdLst>
  <p:txStyles>
    <p:titleStyle>
      <a:lvl1pPr algn="l" defTabSz="457063" rtl="0" eaLnBrk="1" latinLnBrk="0" hangingPunct="1">
        <a:spcBef>
          <a:spcPct val="0"/>
        </a:spcBef>
        <a:buNone/>
        <a:defRPr sz="3599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797" indent="-342797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79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727" indent="-285664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2657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599720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6783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3846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0908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7971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5034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Montserrat"/>
              </a:defRPr>
            </a:pPr>
            <a:r>
              <a:rPr dirty="0">
                <a:latin typeface="Rockwell Extra Bold" panose="02060903040505020403" pitchFamily="18" charset="0"/>
              </a:rPr>
              <a:t>E-Commerce Sales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7158" y="1676400"/>
            <a:ext cx="105156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endParaRPr sz="2400" dirty="0">
              <a:latin typeface="Californian FB" panose="0207040306080B030204" pitchFamily="18" charset="0"/>
            </a:endParaRPr>
          </a:p>
          <a:p>
            <a:pPr lvl="1">
              <a:lnSpc>
                <a:spcPct val="150000"/>
              </a:lnSpc>
              <a:defRPr sz="2400">
                <a:latin typeface="Calibri"/>
              </a:defRPr>
            </a:pPr>
            <a:r>
              <a:rPr sz="2400" dirty="0" smtClean="0">
                <a:latin typeface="Arial" panose="020B0604020202020204" pitchFamily="34" charset="0"/>
                <a:ea typeface="Sans Serif Collection" panose="020B0502040504020204" pitchFamily="34" charset="0"/>
                <a:cs typeface="Arial" panose="020B0604020202020204" pitchFamily="34" charset="0"/>
              </a:rPr>
              <a:t>Presented </a:t>
            </a:r>
            <a:r>
              <a:rPr sz="2400" dirty="0">
                <a:latin typeface="Arial" panose="020B0604020202020204" pitchFamily="34" charset="0"/>
                <a:ea typeface="Sans Serif Collection" panose="020B0502040504020204" pitchFamily="34" charset="0"/>
                <a:cs typeface="Arial" panose="020B0604020202020204" pitchFamily="34" charset="0"/>
              </a:rPr>
              <a:t>By: </a:t>
            </a:r>
            <a:r>
              <a:rPr sz="2400" dirty="0" err="1">
                <a:latin typeface="Arial" panose="020B0604020202020204" pitchFamily="34" charset="0"/>
                <a:ea typeface="Sans Serif Collection" panose="020B0502040504020204" pitchFamily="34" charset="0"/>
                <a:cs typeface="Arial" panose="020B0604020202020204" pitchFamily="34" charset="0"/>
              </a:rPr>
              <a:t>Avinash</a:t>
            </a:r>
            <a:r>
              <a:rPr sz="2400" dirty="0">
                <a:latin typeface="Arial" panose="020B0604020202020204" pitchFamily="34" charset="0"/>
                <a:ea typeface="Sans Serif Collection" panose="020B0502040504020204" pitchFamily="34" charset="0"/>
                <a:cs typeface="Arial" panose="020B0604020202020204" pitchFamily="34" charset="0"/>
              </a:rPr>
              <a:t> Kumar Pal</a:t>
            </a:r>
          </a:p>
          <a:p>
            <a:pPr lvl="1">
              <a:lnSpc>
                <a:spcPct val="150000"/>
              </a:lnSpc>
              <a:defRPr sz="2400">
                <a:latin typeface="Calibri"/>
              </a:defRPr>
            </a:pPr>
            <a:r>
              <a:rPr sz="2400" dirty="0">
                <a:latin typeface="Arial" panose="020B0604020202020204" pitchFamily="34" charset="0"/>
                <a:ea typeface="Sans Serif Collection" panose="020B0502040504020204" pitchFamily="34" charset="0"/>
                <a:cs typeface="Arial" panose="020B0604020202020204" pitchFamily="34" charset="0"/>
              </a:rPr>
              <a:t>Domain: Data Analytics</a:t>
            </a:r>
          </a:p>
          <a:p>
            <a:pPr lvl="1">
              <a:lnSpc>
                <a:spcPct val="150000"/>
              </a:lnSpc>
              <a:defRPr sz="2400">
                <a:latin typeface="Calibri"/>
              </a:defRPr>
            </a:pPr>
            <a:r>
              <a:rPr sz="2400" dirty="0">
                <a:latin typeface="Arial" panose="020B0604020202020204" pitchFamily="34" charset="0"/>
                <a:ea typeface="Sans Serif Collection" panose="020B0502040504020204" pitchFamily="34" charset="0"/>
                <a:cs typeface="Arial" panose="020B0604020202020204" pitchFamily="34" charset="0"/>
              </a:rPr>
              <a:t>Tools Used: Python, SQL, Pandas, </a:t>
            </a:r>
            <a:r>
              <a:rPr sz="2400" dirty="0" err="1">
                <a:latin typeface="Arial" panose="020B0604020202020204" pitchFamily="34" charset="0"/>
                <a:ea typeface="Sans Serif Collection" panose="020B0502040504020204" pitchFamily="34" charset="0"/>
                <a:cs typeface="Arial" panose="020B0604020202020204" pitchFamily="34" charset="0"/>
              </a:rPr>
              <a:t>Plotly</a:t>
            </a:r>
            <a:r>
              <a:rPr sz="2400" dirty="0">
                <a:latin typeface="Arial" panose="020B0604020202020204" pitchFamily="34" charset="0"/>
                <a:ea typeface="Sans Serif Collection" panose="020B0502040504020204" pitchFamily="34" charset="0"/>
                <a:cs typeface="Arial" panose="020B0604020202020204" pitchFamily="34" charset="0"/>
              </a:rPr>
              <a:t>, </a:t>
            </a:r>
            <a:r>
              <a:rPr sz="2400" dirty="0" err="1">
                <a:latin typeface="Arial" panose="020B0604020202020204" pitchFamily="34" charset="0"/>
                <a:ea typeface="Sans Serif Collection" panose="020B0502040504020204" pitchFamily="34" charset="0"/>
                <a:cs typeface="Arial" panose="020B0604020202020204" pitchFamily="34" charset="0"/>
              </a:rPr>
              <a:t>Matplotlib</a:t>
            </a:r>
            <a:endParaRPr sz="2400" dirty="0">
              <a:latin typeface="Arial" panose="020B0604020202020204" pitchFamily="34" charset="0"/>
              <a:ea typeface="Sans Serif Collection" panose="020B0502040504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Montserrat"/>
              </a:defRPr>
            </a:pPr>
            <a:r>
              <a:rPr dirty="0" smtClean="0">
                <a:latin typeface="Rockwell Extra Bold" panose="02060903040505020403" pitchFamily="18" charset="0"/>
              </a:rPr>
              <a:t>Objective</a:t>
            </a:r>
            <a:r>
              <a:rPr lang="en-IN" dirty="0" smtClean="0">
                <a:latin typeface="Rockwell Extra Bold" panose="02060903040505020403" pitchFamily="18" charset="0"/>
              </a:rPr>
              <a:t> :</a:t>
            </a:r>
            <a:endParaRPr dirty="0">
              <a:latin typeface="Rockwell Extra Bold" panose="02060903040505020403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82135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objective of this project is to analyze e-commerce sales data to identify revenue trends, customer purchasing behavior, top-performing products, and profit-driving regions, in order to generate data-driven insights that support better business decision-making and improve overall sales performance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 had worked on more than 9000+ customer information data.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Montserrat"/>
              </a:defRPr>
            </a:pPr>
            <a:r>
              <a:rPr dirty="0">
                <a:latin typeface="Rockwell Extra Bold" panose="02060903040505020403" pitchFamily="18" charset="0"/>
              </a:rPr>
              <a:t>Problem </a:t>
            </a:r>
            <a:r>
              <a:rPr dirty="0" smtClean="0">
                <a:latin typeface="Rockwell Extra Bold" panose="02060903040505020403" pitchFamily="18" charset="0"/>
              </a:rPr>
              <a:t>Statement</a:t>
            </a:r>
            <a:r>
              <a:rPr lang="en-IN" dirty="0" smtClean="0">
                <a:latin typeface="Rockwell Extra Bold" panose="02060903040505020403" pitchFamily="18" charset="0"/>
              </a:rPr>
              <a:t> :</a:t>
            </a:r>
            <a:endParaRPr dirty="0">
              <a:latin typeface="Rockwell Extra Bold" panose="02060903040505020403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1448" y="1661885"/>
            <a:ext cx="8320116" cy="3902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 e-commerce company is generating strong sales but facing inconsistent profitability due to high discounts, loss-making products, and regional performance gaps. There is limited visibility into customer behavior and category-wise contribution. This project analyzes sales data to identify key issues and provide data-driven solutions to improve overall business performance.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Montserrat"/>
              </a:defRPr>
            </a:pPr>
            <a:r>
              <a:rPr dirty="0">
                <a:latin typeface="Rockwell Extra Bold" panose="02060903040505020403" pitchFamily="18" charset="0"/>
              </a:rPr>
              <a:t>Dataset &amp; Tools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56280"/>
            <a:ext cx="10515600" cy="2516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lnSpc>
                <a:spcPct val="150000"/>
              </a:lnSpc>
              <a:defRPr sz="2400">
                <a:latin typeface="Calibri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Dataset: Superstore E-Commerce Sales Dataset</a:t>
            </a:r>
          </a:p>
          <a:p>
            <a:pPr>
              <a:lnSpc>
                <a:spcPct val="150000"/>
              </a:lnSpc>
              <a:defRPr sz="2400">
                <a:latin typeface="Calibri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Tools: Python, SQL, Pandas,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NumPy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Matplotlib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dirty="0" err="1">
                <a:latin typeface="Arial" panose="020B0604020202020204" pitchFamily="34" charset="0"/>
                <a:cs typeface="Arial" panose="020B0604020202020204" pitchFamily="34" charset="0"/>
              </a:rPr>
              <a:t>Plotly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, EDA</a:t>
            </a:r>
          </a:p>
          <a:p>
            <a:pPr>
              <a:lnSpc>
                <a:spcPct val="150000"/>
              </a:lnSpc>
              <a:defRPr sz="2400">
                <a:latin typeface="Calibri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Key Columns: Order Date, Sales, Profit, Discount, </a:t>
            </a:r>
            <a:endParaRPr lang="en-IN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defRPr sz="2400">
                <a:latin typeface="Calibri"/>
              </a:defRPr>
            </a:pPr>
            <a:r>
              <a:rPr dirty="0" smtClean="0">
                <a:latin typeface="Arial" panose="020B0604020202020204" pitchFamily="34" charset="0"/>
                <a:cs typeface="Arial" panose="020B0604020202020204" pitchFamily="34" charset="0"/>
              </a:rPr>
              <a:t>Category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, Region, Customer Name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Montserrat"/>
              </a:defRPr>
            </a:pPr>
            <a:r>
              <a:rPr dirty="0">
                <a:latin typeface="Rockwell Extra Bold" panose="02060903040505020403" pitchFamily="18" charset="0"/>
              </a:rPr>
              <a:t>Exploratory Data Analysis (Key Insights)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42762" y="2526631"/>
            <a:ext cx="774989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lnSpc>
                <a:spcPct val="150000"/>
              </a:lnSpc>
              <a:defRPr sz="2400">
                <a:latin typeface="Calibri"/>
              </a:defRPr>
            </a:pP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Sales Trend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: Seasonal spikes, overall upward trend</a:t>
            </a:r>
          </a:p>
          <a:p>
            <a:pPr>
              <a:lnSpc>
                <a:spcPct val="150000"/>
              </a:lnSpc>
              <a:defRPr sz="2400">
                <a:latin typeface="Calibri"/>
              </a:defRPr>
            </a:pP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Category Analysis: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Technology highest revenue, Furniture lower profit margins</a:t>
            </a:r>
          </a:p>
          <a:p>
            <a:pPr>
              <a:lnSpc>
                <a:spcPct val="150000"/>
              </a:lnSpc>
              <a:defRPr sz="2400">
                <a:latin typeface="Calibri"/>
              </a:defRPr>
            </a:pPr>
            <a:r>
              <a:rPr b="1" dirty="0">
                <a:latin typeface="Arial" panose="020B0604020202020204" pitchFamily="34" charset="0"/>
                <a:cs typeface="Arial" panose="020B0604020202020204" pitchFamily="34" charset="0"/>
              </a:rPr>
              <a:t>Regional Performance: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West highest sales, Central lower profitability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Montserrat"/>
              </a:defRPr>
            </a:pPr>
            <a:r>
              <a:rPr dirty="0">
                <a:latin typeface="Rockwell Extra Bold" panose="02060903040505020403" pitchFamily="18" charset="0"/>
              </a:rPr>
              <a:t>Profitability &amp; Discount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1447" y="1930400"/>
            <a:ext cx="10515600" cy="19740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lnSpc>
                <a:spcPct val="150000"/>
              </a:lnSpc>
              <a:defRPr sz="2400">
                <a:latin typeface="Calibri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Higher discounts reduce profit</a:t>
            </a:r>
          </a:p>
          <a:p>
            <a:pPr>
              <a:lnSpc>
                <a:spcPct val="150000"/>
              </a:lnSpc>
              <a:defRPr sz="2400">
                <a:latin typeface="Calibri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Some products sold at a loss</a:t>
            </a:r>
          </a:p>
          <a:p>
            <a:pPr>
              <a:lnSpc>
                <a:spcPct val="150000"/>
              </a:lnSpc>
              <a:defRPr sz="2400">
                <a:latin typeface="Calibri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Overall profit margin calculated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Montserrat"/>
              </a:defRPr>
            </a:pPr>
            <a:r>
              <a:rPr dirty="0">
                <a:latin typeface="Rockwell Extra Bold" panose="02060903040505020403" pitchFamily="18" charset="0"/>
              </a:rPr>
              <a:t>Customer &amp; 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8612" y="1597162"/>
            <a:ext cx="859442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lnSpc>
                <a:spcPct val="150000"/>
              </a:lnSpc>
              <a:defRPr sz="2400">
                <a:latin typeface="Calibri"/>
              </a:defRPr>
            </a:pPr>
            <a:r>
              <a:rPr dirty="0"/>
              <a:t>Top 10 customers contributed major </a:t>
            </a:r>
            <a:r>
              <a:rPr dirty="0" smtClean="0"/>
              <a:t>revenue</a:t>
            </a:r>
            <a:r>
              <a:rPr lang="en-IN" dirty="0" smtClean="0"/>
              <a:t>:</a:t>
            </a:r>
            <a:endParaRPr dirty="0"/>
          </a:p>
          <a:p>
            <a:pPr>
              <a:lnSpc>
                <a:spcPct val="150000"/>
              </a:lnSpc>
              <a:defRPr sz="2400">
                <a:latin typeface="Calibri"/>
              </a:defRPr>
            </a:pPr>
            <a:r>
              <a:rPr dirty="0"/>
              <a:t>Average Order Value measured</a:t>
            </a:r>
          </a:p>
          <a:p>
            <a:pPr>
              <a:lnSpc>
                <a:spcPct val="150000"/>
              </a:lnSpc>
              <a:defRPr sz="2400">
                <a:latin typeface="Calibri"/>
              </a:defRPr>
            </a:pPr>
            <a:r>
              <a:rPr dirty="0"/>
              <a:t>KPIs: Total Revenue, Total Profit, Profit Margin, Regional Contribution, Sales Growth Rate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50000"/>
              </a:lnSpc>
              <a:defRPr sz="2400">
                <a:latin typeface="Calibri"/>
              </a:defRPr>
            </a:pPr>
            <a:r>
              <a:rPr lang="en-US" sz="3200" dirty="0">
                <a:latin typeface="Rockwell Extra Bold" panose="02060903040505020403" pitchFamily="18" charset="0"/>
              </a:rPr>
              <a:t>Top 10 customers contributed major revenue: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454" y="2161309"/>
            <a:ext cx="4839855" cy="397747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022109" y="2161309"/>
            <a:ext cx="5495637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F0F0F0"/>
                </a:solidFill>
                <a:latin typeface="Consolas" panose="020B0609020204030204" pitchFamily="49" charset="0"/>
              </a:rPr>
              <a:t>top_customers</a:t>
            </a:r>
            <a:r>
              <a:rPr lang="en-US" dirty="0">
                <a:solidFill>
                  <a:srgbClr val="F0F0F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F0F0F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(</a:t>
            </a:r>
            <a:endParaRPr lang="en-US" dirty="0">
              <a:solidFill>
                <a:srgbClr val="F0F0F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0F0F0"/>
                </a:solidFill>
                <a:latin typeface="Consolas" panose="020B0609020204030204" pitchFamily="49" charset="0"/>
              </a:rPr>
              <a:t>    </a:t>
            </a:r>
            <a:r>
              <a:rPr lang="en-US" dirty="0" err="1">
                <a:solidFill>
                  <a:srgbClr val="F0F0F0"/>
                </a:solidFill>
                <a:latin typeface="Consolas" panose="020B0609020204030204" pitchFamily="49" charset="0"/>
              </a:rPr>
              <a:t>data</a:t>
            </a:r>
            <a:r>
              <a:rPr lang="en-US" dirty="0" err="1">
                <a:solidFill>
                  <a:srgbClr val="89DDFF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F0F0F0"/>
                </a:solidFill>
                <a:latin typeface="Consolas" panose="020B0609020204030204" pitchFamily="49" charset="0"/>
              </a:rPr>
              <a:t>groupby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("</a:t>
            </a:r>
            <a:r>
              <a:rPr lang="en-US" dirty="0">
                <a:solidFill>
                  <a:srgbClr val="C3E88D"/>
                </a:solidFill>
                <a:latin typeface="Consolas" panose="020B0609020204030204" pitchFamily="49" charset="0"/>
              </a:rPr>
              <a:t>Customer Name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")["</a:t>
            </a:r>
            <a:r>
              <a:rPr lang="en-US" dirty="0">
                <a:solidFill>
                  <a:srgbClr val="C3E88D"/>
                </a:solidFill>
                <a:latin typeface="Consolas" panose="020B0609020204030204" pitchFamily="49" charset="0"/>
              </a:rPr>
              <a:t>Sales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"]</a:t>
            </a:r>
            <a:endParaRPr lang="en-US" dirty="0">
              <a:solidFill>
                <a:srgbClr val="F0F0F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0F0F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.</a:t>
            </a:r>
            <a:r>
              <a:rPr lang="en-US" dirty="0">
                <a:solidFill>
                  <a:srgbClr val="F0F0F0"/>
                </a:solidFill>
                <a:latin typeface="Consolas" panose="020B0609020204030204" pitchFamily="49" charset="0"/>
              </a:rPr>
              <a:t>sum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()</a:t>
            </a:r>
            <a:endParaRPr lang="en-US" dirty="0">
              <a:solidFill>
                <a:srgbClr val="F0F0F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0F0F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F0F0F0"/>
                </a:solidFill>
                <a:latin typeface="Consolas" panose="020B0609020204030204" pitchFamily="49" charset="0"/>
              </a:rPr>
              <a:t>sort_values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FF5370"/>
                </a:solidFill>
                <a:latin typeface="Consolas" panose="020B0609020204030204" pitchFamily="49" charset="0"/>
              </a:rPr>
              <a:t>ascending</a:t>
            </a:r>
            <a:r>
              <a:rPr lang="en-US" dirty="0">
                <a:solidFill>
                  <a:srgbClr val="C792EA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FF6233"/>
                </a:solidFill>
                <a:latin typeface="Consolas" panose="020B0609020204030204" pitchFamily="49" charset="0"/>
              </a:rPr>
              <a:t>False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)</a:t>
            </a:r>
            <a:endParaRPr lang="en-US" dirty="0">
              <a:solidFill>
                <a:srgbClr val="F0F0F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0F0F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.</a:t>
            </a:r>
            <a:r>
              <a:rPr lang="en-US" dirty="0">
                <a:solidFill>
                  <a:srgbClr val="F0F0F0"/>
                </a:solidFill>
                <a:latin typeface="Consolas" panose="020B0609020204030204" pitchFamily="49" charset="0"/>
              </a:rPr>
              <a:t>head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F78C6C"/>
                </a:solidFill>
                <a:latin typeface="Consolas" panose="020B0609020204030204" pitchFamily="49" charset="0"/>
              </a:rPr>
              <a:t>10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)</a:t>
            </a:r>
            <a:endParaRPr lang="en-US" dirty="0">
              <a:solidFill>
                <a:srgbClr val="F0F0F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0F0F0"/>
                </a:solidFill>
                <a:latin typeface="Consolas" panose="020B0609020204030204" pitchFamily="49" charset="0"/>
              </a:rPr>
              <a:t>    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F0F0F0"/>
                </a:solidFill>
                <a:latin typeface="Consolas" panose="020B0609020204030204" pitchFamily="49" charset="0"/>
              </a:rPr>
              <a:t>reset_index</a:t>
            </a:r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()</a:t>
            </a:r>
            <a:endParaRPr lang="en-US" dirty="0">
              <a:solidFill>
                <a:srgbClr val="F0F0F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89DDFF"/>
                </a:solidFill>
                <a:latin typeface="Consolas" panose="020B0609020204030204" pitchFamily="49" charset="0"/>
              </a:rPr>
              <a:t>)</a:t>
            </a:r>
            <a:endParaRPr lang="en-US" dirty="0">
              <a:solidFill>
                <a:srgbClr val="F0F0F0"/>
              </a:solidFill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F0F0F0"/>
                </a:solidFill>
                <a:latin typeface="Consolas" panose="020B0609020204030204" pitchFamily="49" charset="0"/>
              </a:rPr>
              <a:t/>
            </a:r>
            <a:br>
              <a:rPr lang="en-US" dirty="0">
                <a:solidFill>
                  <a:srgbClr val="F0F0F0"/>
                </a:solidFill>
                <a:latin typeface="Consolas" panose="020B0609020204030204" pitchFamily="49" charset="0"/>
              </a:rPr>
            </a:br>
            <a:r>
              <a:rPr lang="en-US" dirty="0" smtClean="0">
                <a:solidFill>
                  <a:srgbClr val="F0F0F0"/>
                </a:solidFill>
                <a:latin typeface="Consolas" panose="020B0609020204030204" pitchFamily="49" charset="0"/>
              </a:rPr>
              <a:t>SQL Query:</a:t>
            </a:r>
          </a:p>
          <a:p>
            <a:r>
              <a:rPr lang="en-US" dirty="0" smtClean="0">
                <a:solidFill>
                  <a:srgbClr val="F0F0F0"/>
                </a:solidFill>
                <a:latin typeface="Consolas" panose="020B0609020204030204" pitchFamily="49" charset="0"/>
              </a:rPr>
              <a:t>Select customer Name, sum(sales) as total sales from superstores</a:t>
            </a:r>
          </a:p>
          <a:p>
            <a:r>
              <a:rPr lang="en-US" dirty="0" smtClean="0">
                <a:solidFill>
                  <a:srgbClr val="F0F0F0"/>
                </a:solidFill>
                <a:latin typeface="Consolas" panose="020B0609020204030204" pitchFamily="49" charset="0"/>
              </a:rPr>
              <a:t>Group by </a:t>
            </a:r>
            <a:r>
              <a:rPr lang="en-US" dirty="0">
                <a:solidFill>
                  <a:srgbClr val="F0F0F0"/>
                </a:solidFill>
                <a:latin typeface="Consolas" panose="020B0609020204030204" pitchFamily="49" charset="0"/>
              </a:rPr>
              <a:t>C</a:t>
            </a:r>
            <a:r>
              <a:rPr lang="en-US" dirty="0" smtClean="0">
                <a:solidFill>
                  <a:srgbClr val="F0F0F0"/>
                </a:solidFill>
                <a:latin typeface="Consolas" panose="020B0609020204030204" pitchFamily="49" charset="0"/>
              </a:rPr>
              <a:t>ustomer Name </a:t>
            </a:r>
          </a:p>
          <a:p>
            <a:r>
              <a:rPr lang="en-US" dirty="0" smtClean="0">
                <a:solidFill>
                  <a:srgbClr val="F0F0F0"/>
                </a:solidFill>
                <a:latin typeface="Consolas" panose="020B0609020204030204" pitchFamily="49" charset="0"/>
              </a:rPr>
              <a:t>order by total sales </a:t>
            </a:r>
            <a:r>
              <a:rPr lang="en-US" dirty="0" err="1" smtClean="0">
                <a:solidFill>
                  <a:srgbClr val="F0F0F0"/>
                </a:solidFill>
                <a:latin typeface="Consolas" panose="020B0609020204030204" pitchFamily="49" charset="0"/>
              </a:rPr>
              <a:t>desc</a:t>
            </a:r>
            <a:r>
              <a:rPr lang="en-US" dirty="0" smtClean="0">
                <a:solidFill>
                  <a:srgbClr val="F0F0F0"/>
                </a:solidFill>
                <a:latin typeface="Consolas" panose="020B0609020204030204" pitchFamily="49" charset="0"/>
              </a:rPr>
              <a:t> limit 10;</a:t>
            </a:r>
          </a:p>
        </p:txBody>
      </p:sp>
    </p:spTree>
    <p:extLst>
      <p:ext uri="{BB962C8B-B14F-4D97-AF65-F5344CB8AC3E}">
        <p14:creationId xmlns:p14="http://schemas.microsoft.com/office/powerpoint/2010/main" val="2897955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Montserrat"/>
              </a:defRPr>
            </a:pPr>
            <a:r>
              <a:rPr dirty="0">
                <a:latin typeface="Rockwell Extra Bold" panose="02060903040505020403" pitchFamily="18" charset="0"/>
              </a:rPr>
              <a:t>Solutions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7158" y="2253916"/>
            <a:ext cx="10515600" cy="2528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lnSpc>
                <a:spcPct val="150000"/>
              </a:lnSpc>
              <a:defRPr sz="2400">
                <a:latin typeface="Calibri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Optimize discount strategy</a:t>
            </a:r>
          </a:p>
          <a:p>
            <a:pPr>
              <a:lnSpc>
                <a:spcPct val="150000"/>
              </a:lnSpc>
              <a:defRPr sz="2400">
                <a:latin typeface="Calibri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Focus on high-profit categories (Technology)</a:t>
            </a:r>
          </a:p>
          <a:p>
            <a:pPr>
              <a:lnSpc>
                <a:spcPct val="150000"/>
              </a:lnSpc>
              <a:defRPr sz="2400">
                <a:latin typeface="Calibri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Improve operations in low-performing regions</a:t>
            </a:r>
          </a:p>
          <a:p>
            <a:pPr>
              <a:lnSpc>
                <a:spcPct val="150000"/>
              </a:lnSpc>
              <a:defRPr sz="2400">
                <a:latin typeface="Calibri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Discontinue/reprice loss-making products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latin typeface="Montserrat"/>
              </a:defRPr>
            </a:pPr>
            <a:r>
              <a:rPr dirty="0">
                <a:latin typeface="Rockwell Extra Bold" panose="02060903040505020403" pitchFamily="18" charset="0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544262" cy="3209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dirty="0"/>
          </a:p>
          <a:p>
            <a:pPr>
              <a:lnSpc>
                <a:spcPct val="150000"/>
              </a:lnSpc>
              <a:defRPr sz="2400">
                <a:latin typeface="Calibri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Data analytics solves real-world business problems</a:t>
            </a:r>
          </a:p>
          <a:p>
            <a:pPr>
              <a:lnSpc>
                <a:spcPct val="150000"/>
              </a:lnSpc>
              <a:defRPr sz="2400">
                <a:latin typeface="Calibri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Insights improve decision-making, profitability, and growth strategy</a:t>
            </a:r>
          </a:p>
          <a:p>
            <a:pPr>
              <a:lnSpc>
                <a:spcPct val="150000"/>
              </a:lnSpc>
              <a:defRPr sz="2400">
                <a:latin typeface="Calibri"/>
              </a:defRPr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Closing Statement: “Data-Driven Decisions Lead to Business Growth”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KPIs: Total Revenue, Total Profit, Profit Margin, Regional Contribution, Sales Growth Rate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677158" y="2598003"/>
            <a:ext cx="486466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Total </a:t>
            </a:r>
            <a:r>
              <a:rPr lang="en-US" dirty="0" smtClean="0"/>
              <a:t>Revenue:   </a:t>
            </a:r>
            <a:r>
              <a:rPr lang="en-IN" dirty="0" smtClean="0"/>
              <a:t>2297200.8603000003</a:t>
            </a:r>
          </a:p>
          <a:p>
            <a:endParaRPr lang="en-IN" dirty="0" smtClean="0"/>
          </a:p>
          <a:p>
            <a:r>
              <a:rPr lang="en-US" dirty="0"/>
              <a:t>Total </a:t>
            </a:r>
            <a:r>
              <a:rPr lang="en-US" dirty="0" smtClean="0"/>
              <a:t>Profit: </a:t>
            </a:r>
            <a:r>
              <a:rPr lang="en-IN" dirty="0" smtClean="0"/>
              <a:t>286397.0217</a:t>
            </a:r>
          </a:p>
          <a:p>
            <a:endParaRPr lang="en-IN" dirty="0" smtClean="0"/>
          </a:p>
          <a:p>
            <a:r>
              <a:rPr lang="en-US" dirty="0"/>
              <a:t>Profit </a:t>
            </a:r>
            <a:r>
              <a:rPr lang="en-US" dirty="0" smtClean="0"/>
              <a:t>Margin:  </a:t>
            </a:r>
            <a:r>
              <a:rPr lang="en-IN" dirty="0"/>
              <a:t>12.47 %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Sales </a:t>
            </a:r>
            <a:r>
              <a:rPr lang="en-US" dirty="0"/>
              <a:t>Growth </a:t>
            </a:r>
            <a:r>
              <a:rPr lang="en-US" dirty="0" smtClean="0"/>
              <a:t>Rate: </a:t>
            </a:r>
            <a:r>
              <a:rPr lang="en-IN" b="1" dirty="0" smtClean="0"/>
              <a:t>+</a:t>
            </a:r>
            <a:r>
              <a:rPr lang="en-IN" b="1" dirty="0"/>
              <a:t>15% YoY</a:t>
            </a:r>
            <a:r>
              <a:rPr lang="en-IN" dirty="0"/>
              <a:t/>
            </a:r>
            <a:br>
              <a:rPr lang="en-IN" dirty="0"/>
            </a:br>
            <a:r>
              <a:rPr lang="en-IN" i="1" dirty="0"/>
              <a:t>Year-over-year growth</a:t>
            </a:r>
            <a:endParaRPr lang="en-IN" dirty="0" smtClean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19833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6504" y="2530764"/>
            <a:ext cx="8594429" cy="1320800"/>
          </a:xfrm>
        </p:spPr>
        <p:txBody>
          <a:bodyPr/>
          <a:lstStyle/>
          <a:p>
            <a:r>
              <a:rPr lang="en-IN" dirty="0" smtClean="0">
                <a:latin typeface="Rockwell Extra Bold" panose="02060903040505020403" pitchFamily="18" charset="0"/>
              </a:rPr>
              <a:t>THANK  YOU !!!</a:t>
            </a:r>
            <a:endParaRPr lang="en-IN" dirty="0">
              <a:latin typeface="Rockwell Extra Bold" panose="020609030405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825402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116</TotalTime>
  <Words>369</Words>
  <Application>Microsoft Office PowerPoint</Application>
  <PresentationFormat>Custom</PresentationFormat>
  <Paragraphs>63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Calibri</vt:lpstr>
      <vt:lpstr>Californian FB</vt:lpstr>
      <vt:lpstr>Consolas</vt:lpstr>
      <vt:lpstr>Rockwell Extra Bold</vt:lpstr>
      <vt:lpstr>Sans Serif Collection</vt:lpstr>
      <vt:lpstr>Trebuchet MS</vt:lpstr>
      <vt:lpstr>Wingdings 3</vt:lpstr>
      <vt:lpstr>Facet</vt:lpstr>
      <vt:lpstr>E-Commerce Sales Analysis</vt:lpstr>
      <vt:lpstr>Objective :</vt:lpstr>
      <vt:lpstr>Problem Statement :</vt:lpstr>
      <vt:lpstr>Dataset &amp; Tools Used</vt:lpstr>
      <vt:lpstr>Exploratory Data Analysis (Key Insights)</vt:lpstr>
      <vt:lpstr>Profitability &amp; Discount Analysis</vt:lpstr>
      <vt:lpstr>Customer &amp; Business Insights</vt:lpstr>
      <vt:lpstr>Top 10 customers contributed major revenue:</vt:lpstr>
      <vt:lpstr>Solutions &amp; Recommendations</vt:lpstr>
      <vt:lpstr>Conclusion</vt:lpstr>
      <vt:lpstr>KPIs: Total Revenue, Total Profit, Profit Margin, Regional Contribution, Sales Growth Rate</vt:lpstr>
      <vt:lpstr>THANK  YOU !!!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Sales Analysis</dc:title>
  <dc:subject/>
  <dc:creator>AVINASH KUMAR PAL</dc:creator>
  <cp:keywords/>
  <dc:description>generated using python-pptx</dc:description>
  <cp:lastModifiedBy>AVINASH KUMAR PAL</cp:lastModifiedBy>
  <cp:revision>12</cp:revision>
  <dcterms:created xsi:type="dcterms:W3CDTF">2013-01-27T09:14:16Z</dcterms:created>
  <dcterms:modified xsi:type="dcterms:W3CDTF">2026-03-15T09:35:08Z</dcterms:modified>
  <cp:category/>
</cp:coreProperties>
</file>